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3" r:id="rId7"/>
    <p:sldId id="264" r:id="rId8"/>
    <p:sldId id="265" r:id="rId9"/>
    <p:sldId id="266" r:id="rId10"/>
    <p:sldId id="267" r:id="rId11"/>
    <p:sldId id="276" r:id="rId12"/>
    <p:sldId id="275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C1B"/>
    <a:srgbClr val="171813"/>
    <a:srgbClr val="222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2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3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0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7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0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6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7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1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0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9089E-312F-4D58-816C-F930EF1E76D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D1240-DB6F-4235-A96E-F90202AE8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5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593" y="1923104"/>
            <a:ext cx="9951132" cy="2387600"/>
          </a:xfrm>
        </p:spPr>
        <p:txBody>
          <a:bodyPr>
            <a:normAutofit/>
          </a:bodyPr>
          <a:lstStyle/>
          <a:p>
            <a:pPr algn="l"/>
            <a:r>
              <a:rPr lang="en-US" sz="5400" dirty="0" smtClean="0">
                <a:solidFill>
                  <a:schemeClr val="bg1"/>
                </a:solidFill>
                <a:latin typeface="+mn-lt"/>
              </a:rPr>
              <a:t>AI-Based Space Debris Detection</a:t>
            </a:r>
            <a:endParaRPr lang="en-US" sz="5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593" y="4146166"/>
            <a:ext cx="9144000" cy="89966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US" dirty="0" smtClean="0">
                <a:solidFill>
                  <a:schemeClr val="bg1"/>
                </a:solidFill>
              </a:rPr>
              <a:t>or Space Situational Awareness (SSA)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1593" y="5247563"/>
            <a:ext cx="8887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Submitted by: </a:t>
            </a:r>
            <a:r>
              <a:rPr lang="en-US" dirty="0" err="1" smtClean="0">
                <a:solidFill>
                  <a:schemeClr val="bg1"/>
                </a:solidFill>
              </a:rPr>
              <a:t>Aeman</a:t>
            </a:r>
            <a:r>
              <a:rPr lang="en-US" dirty="0" smtClean="0">
                <a:solidFill>
                  <a:schemeClr val="bg1"/>
                </a:solidFill>
              </a:rPr>
              <a:t> Chaudhary &amp; </a:t>
            </a:r>
            <a:r>
              <a:rPr lang="en-US" dirty="0" err="1" smtClean="0">
                <a:solidFill>
                  <a:schemeClr val="bg1"/>
                </a:solidFill>
              </a:rPr>
              <a:t>Jannat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Javed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Degree: BS Artificial Intelligence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Supervisor: Prof. Dr. </a:t>
            </a:r>
            <a:r>
              <a:rPr lang="en-US" dirty="0" err="1" smtClean="0">
                <a:solidFill>
                  <a:schemeClr val="bg1"/>
                </a:solidFill>
              </a:rPr>
              <a:t>Najia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Saher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49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053167" y="-1374262"/>
            <a:ext cx="6858000" cy="960652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</a:rPr>
              <a:t>LEO Satellites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771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Low Earth Orbit (LEO) satellites </a:t>
            </a:r>
            <a:r>
              <a:rPr lang="en-US" sz="2400" dirty="0" smtClean="0">
                <a:solidFill>
                  <a:schemeClr val="bg1"/>
                </a:solidFill>
              </a:rPr>
              <a:t>circle the Earth at </a:t>
            </a:r>
            <a:r>
              <a:rPr lang="en-US" sz="2400" dirty="0">
                <a:solidFill>
                  <a:schemeClr val="bg1"/>
                </a:solidFill>
              </a:rPr>
              <a:t>altitudes ranging from </a:t>
            </a:r>
            <a:r>
              <a:rPr lang="en-US" sz="2400" dirty="0" smtClean="0">
                <a:solidFill>
                  <a:schemeClr val="bg1"/>
                </a:solidFill>
              </a:rPr>
              <a:t>160 km </a:t>
            </a:r>
            <a:r>
              <a:rPr lang="en-US" sz="2400" dirty="0">
                <a:solidFill>
                  <a:schemeClr val="bg1"/>
                </a:solidFill>
              </a:rPr>
              <a:t>to </a:t>
            </a:r>
            <a:r>
              <a:rPr lang="en-US" sz="2400" dirty="0" smtClean="0">
                <a:solidFill>
                  <a:schemeClr val="bg1"/>
                </a:solidFill>
              </a:rPr>
              <a:t>2,000 km. </a:t>
            </a:r>
            <a:r>
              <a:rPr lang="en-US" sz="2400" dirty="0">
                <a:solidFill>
                  <a:schemeClr val="bg1"/>
                </a:solidFill>
              </a:rPr>
              <a:t>Due to their close proximity to Earth, they travel extremely fast (completing an orbit in </a:t>
            </a:r>
            <a:r>
              <a:rPr lang="en-US" sz="2400" dirty="0" smtClean="0">
                <a:solidFill>
                  <a:schemeClr val="bg1"/>
                </a:solidFill>
              </a:rPr>
              <a:t>90 to 120 </a:t>
            </a:r>
            <a:r>
              <a:rPr lang="en-US" sz="2400" dirty="0">
                <a:solidFill>
                  <a:schemeClr val="bg1"/>
                </a:solidFill>
              </a:rPr>
              <a:t>minutes) and </a:t>
            </a:r>
            <a:r>
              <a:rPr lang="en-US" sz="2400" dirty="0" smtClean="0">
                <a:solidFill>
                  <a:schemeClr val="bg1"/>
                </a:solidFill>
              </a:rPr>
              <a:t>are ideal for: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1) Global Internet </a:t>
            </a:r>
            <a:r>
              <a:rPr lang="en-US" sz="2400" dirty="0">
                <a:solidFill>
                  <a:schemeClr val="bg1"/>
                </a:solidFill>
              </a:rPr>
              <a:t>C</a:t>
            </a:r>
            <a:r>
              <a:rPr lang="en-US" sz="2400" dirty="0" smtClean="0">
                <a:solidFill>
                  <a:schemeClr val="bg1"/>
                </a:solidFill>
              </a:rPr>
              <a:t>overage – such as </a:t>
            </a:r>
            <a:r>
              <a:rPr lang="en-US" sz="2400" dirty="0" err="1" smtClean="0">
                <a:solidFill>
                  <a:schemeClr val="bg1"/>
                </a:solidFill>
              </a:rPr>
              <a:t>SpaceX’s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Starlink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2) Earth Observation &amp; </a:t>
            </a:r>
            <a:r>
              <a:rPr lang="en-US" sz="2400" dirty="0">
                <a:solidFill>
                  <a:schemeClr val="bg1"/>
                </a:solidFill>
              </a:rPr>
              <a:t>Remote Sensing - for agricultural monitoring, climate science, disaster response, and military reconnaissance.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3) Scientific </a:t>
            </a:r>
            <a:r>
              <a:rPr lang="en-US" sz="2400" dirty="0">
                <a:solidFill>
                  <a:schemeClr val="bg1"/>
                </a:solidFill>
              </a:rPr>
              <a:t>Research - The International Space Station (ISS) and various space telescopes reside in </a:t>
            </a:r>
            <a:r>
              <a:rPr lang="en-US" sz="2400" dirty="0" smtClean="0">
                <a:solidFill>
                  <a:schemeClr val="bg1"/>
                </a:solidFill>
              </a:rPr>
              <a:t>LEO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4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393" y="0"/>
            <a:ext cx="5418035" cy="71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9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628" y="0"/>
            <a:ext cx="566362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540" y="36512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Space Debris Crisis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40" y="1834171"/>
            <a:ext cx="6942835" cy="495119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LEO is the most populated region </a:t>
            </a:r>
            <a:r>
              <a:rPr lang="en-US" dirty="0">
                <a:solidFill>
                  <a:schemeClr val="bg1"/>
                </a:solidFill>
              </a:rPr>
              <a:t>of </a:t>
            </a:r>
            <a:r>
              <a:rPr lang="en-US" dirty="0" smtClean="0">
                <a:solidFill>
                  <a:schemeClr val="bg1"/>
                </a:solidFill>
              </a:rPr>
              <a:t>space.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Debris = Dead </a:t>
            </a:r>
            <a:r>
              <a:rPr lang="en-US" dirty="0">
                <a:solidFill>
                  <a:schemeClr val="bg1"/>
                </a:solidFill>
              </a:rPr>
              <a:t>satellites and space junk 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Over </a:t>
            </a:r>
            <a:r>
              <a:rPr lang="en-US" dirty="0">
                <a:solidFill>
                  <a:schemeClr val="bg1"/>
                </a:solidFill>
              </a:rPr>
              <a:t>36,000 tracked debris objects orbit </a:t>
            </a:r>
            <a:r>
              <a:rPr lang="en-US" dirty="0" smtClean="0">
                <a:solidFill>
                  <a:schemeClr val="bg1"/>
                </a:solidFill>
              </a:rPr>
              <a:t>Earth.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And </a:t>
            </a:r>
            <a:r>
              <a:rPr lang="en-US" dirty="0">
                <a:solidFill>
                  <a:schemeClr val="bg1"/>
                </a:solidFill>
              </a:rPr>
              <a:t>an estimated 130 million </a:t>
            </a:r>
            <a:r>
              <a:rPr lang="en-US" dirty="0" smtClean="0">
                <a:solidFill>
                  <a:schemeClr val="bg1"/>
                </a:solidFill>
              </a:rPr>
              <a:t>smaller, </a:t>
            </a:r>
            <a:r>
              <a:rPr lang="en-US" dirty="0" err="1" smtClean="0">
                <a:solidFill>
                  <a:schemeClr val="bg1"/>
                </a:solidFill>
              </a:rPr>
              <a:t>untrackable</a:t>
            </a:r>
            <a:r>
              <a:rPr lang="en-US" dirty="0" smtClean="0">
                <a:solidFill>
                  <a:schemeClr val="bg1"/>
                </a:solidFill>
              </a:rPr>
              <a:t> fragments.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Kessler Syndrome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Debris travels at speed up to 28,000km/h, even a tiny paint fleck can cause significant damage to satellites.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Kessler syndrome: a scenario where collisions between objects generate even more debris.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could eventually result in certain orbital paths becoming completely unusable.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Leading to severe economical and security threat to systems like GPS, </a:t>
            </a:r>
            <a:r>
              <a:rPr lang="en-US" dirty="0" err="1" smtClean="0">
                <a:solidFill>
                  <a:schemeClr val="bg1"/>
                </a:solidFill>
              </a:rPr>
              <a:t>Wifi</a:t>
            </a:r>
            <a:r>
              <a:rPr lang="en-US" dirty="0" smtClean="0">
                <a:solidFill>
                  <a:schemeClr val="bg1"/>
                </a:solidFill>
              </a:rPr>
              <a:t> (which we heavily rely 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3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2593975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n-lt"/>
              </a:rPr>
              <a:t>The solution?</a:t>
            </a:r>
            <a:br>
              <a:rPr lang="en-US" dirty="0" smtClean="0">
                <a:solidFill>
                  <a:schemeClr val="bg1"/>
                </a:solidFill>
                <a:latin typeface="+mn-lt"/>
              </a:rPr>
            </a:br>
            <a:r>
              <a:rPr lang="en-US" dirty="0" smtClean="0">
                <a:solidFill>
                  <a:schemeClr val="bg1"/>
                </a:solidFill>
                <a:latin typeface="+mn-lt"/>
              </a:rPr>
              <a:t>Collision Avoidance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02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6939">
            <a:off x="2966136" y="-1150793"/>
            <a:ext cx="12261454" cy="74031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090738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Our 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32802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Main modules: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chemeClr val="bg1"/>
                </a:solidFill>
              </a:rPr>
              <a:t>Debris detection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chemeClr val="bg1"/>
                </a:solidFill>
              </a:rPr>
              <a:t>Debris tracking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chemeClr val="bg1"/>
                </a:solidFill>
              </a:rPr>
              <a:t>Collision risk prediction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chemeClr val="bg1"/>
                </a:solidFill>
              </a:rPr>
              <a:t>3D simulation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72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7430">
            <a:off x="-840583" y="-1003123"/>
            <a:ext cx="16010702" cy="10673801"/>
          </a:xfrm>
          <a:prstGeom prst="rect">
            <a:avLst/>
          </a:prstGeom>
          <a:solidFill>
            <a:srgbClr val="171813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0137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Objectives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9338"/>
            <a:ext cx="7962900" cy="2328862"/>
          </a:xfrm>
          <a:noFill/>
        </p:spPr>
        <p:txBody>
          <a:bodyPr/>
          <a:lstStyle/>
          <a:p>
            <a:pPr algn="just"/>
            <a:r>
              <a:rPr lang="en-US" dirty="0" smtClean="0">
                <a:solidFill>
                  <a:schemeClr val="bg1"/>
                </a:solidFill>
              </a:rPr>
              <a:t>Detect space debris using </a:t>
            </a:r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US" dirty="0" smtClean="0">
                <a:solidFill>
                  <a:schemeClr val="bg1"/>
                </a:solidFill>
              </a:rPr>
              <a:t>omputer Vision</a:t>
            </a:r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 smtClean="0">
                <a:solidFill>
                  <a:schemeClr val="bg1"/>
                </a:solidFill>
              </a:rPr>
              <a:t>Propagate orbital trajectories using TLE/OMM data</a:t>
            </a:r>
          </a:p>
          <a:p>
            <a:pPr algn="just"/>
            <a:r>
              <a:rPr lang="en-US" dirty="0" smtClean="0">
                <a:solidFill>
                  <a:schemeClr val="bg1"/>
                </a:solidFill>
              </a:rPr>
              <a:t>Assess collision risks of debris with our satellite</a:t>
            </a:r>
          </a:p>
          <a:p>
            <a:pPr algn="just"/>
            <a:r>
              <a:rPr lang="en-US" dirty="0" smtClean="0">
                <a:solidFill>
                  <a:schemeClr val="bg1"/>
                </a:solidFill>
              </a:rPr>
              <a:t>Visualize debris movement in a 3D environment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15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877800" cy="9698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36512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Sources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275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Debris detection: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</a:t>
            </a:r>
            <a:r>
              <a:rPr lang="en-US" dirty="0" err="1" smtClean="0">
                <a:solidFill>
                  <a:schemeClr val="bg1"/>
                </a:solidFill>
              </a:rPr>
              <a:t>AIcrowd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space debris </a:t>
            </a:r>
            <a:r>
              <a:rPr lang="en-US" dirty="0" smtClean="0">
                <a:solidFill>
                  <a:schemeClr val="bg1"/>
                </a:solidFill>
              </a:rPr>
              <a:t>dataset (synthetic data, the best one out there)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Orbital tracking: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</a:t>
            </a:r>
            <a:r>
              <a:rPr lang="en-US" dirty="0" err="1" smtClean="0">
                <a:solidFill>
                  <a:schemeClr val="bg1"/>
                </a:solidFill>
              </a:rPr>
              <a:t>CelesTrak</a:t>
            </a:r>
            <a:r>
              <a:rPr lang="en-US" dirty="0" smtClean="0">
                <a:solidFill>
                  <a:schemeClr val="bg1"/>
                </a:solidFill>
              </a:rPr>
              <a:t> orbital data in TLE, OMM formats (real and latest data)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Reference technologies: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YOLO variants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SGP4 propagation model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dirty="0" err="1" smtClean="0">
                <a:solidFill>
                  <a:schemeClr val="bg1"/>
                </a:solidFill>
              </a:rPr>
              <a:t>Skyfield</a:t>
            </a:r>
            <a:r>
              <a:rPr lang="en-US" dirty="0" smtClean="0">
                <a:solidFill>
                  <a:schemeClr val="bg1"/>
                </a:solidFill>
              </a:rPr>
              <a:t> library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Flask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31" y="2720880"/>
            <a:ext cx="4137120" cy="41371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1" y="2720880"/>
            <a:ext cx="4095750" cy="41371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28637"/>
            <a:ext cx="10515600" cy="1325563"/>
          </a:xfrm>
          <a:solidFill>
            <a:schemeClr val="tx1"/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1) Debris Detection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54200"/>
            <a:ext cx="10515600" cy="4351338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Input: space imagery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Bounding box generation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 detection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Tech stack:</a:t>
            </a:r>
          </a:p>
          <a:p>
            <a:pPr>
              <a:buFontTx/>
              <a:buChar char="-"/>
            </a:pPr>
            <a:r>
              <a:rPr lang="en-US" dirty="0" smtClean="0">
                <a:solidFill>
                  <a:schemeClr val="bg1"/>
                </a:solidFill>
              </a:rPr>
              <a:t>Python</a:t>
            </a:r>
          </a:p>
          <a:p>
            <a:pPr>
              <a:buFontTx/>
              <a:buChar char="-"/>
            </a:pPr>
            <a:r>
              <a:rPr lang="en-US" dirty="0" err="1" smtClean="0">
                <a:solidFill>
                  <a:schemeClr val="bg1"/>
                </a:solidFill>
              </a:rPr>
              <a:t>OpenCV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dirty="0" smtClean="0">
                <a:solidFill>
                  <a:schemeClr val="bg1"/>
                </a:solidFill>
              </a:rPr>
              <a:t>YOLO (v8n, v8s, v9c, v11s)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4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83" y="-10083"/>
            <a:ext cx="5213163" cy="35231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471" y="-13779"/>
            <a:ext cx="5218632" cy="35268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82" y="3467008"/>
            <a:ext cx="5213163" cy="35231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471" y="3463312"/>
            <a:ext cx="5218632" cy="35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1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7458"/>
            <a:ext cx="12190960" cy="43346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2330" y="6086474"/>
            <a:ext cx="468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Best model: YOLO v8s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77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139"/>
            <a:ext cx="8816412" cy="6600330"/>
          </a:xfrm>
          <a:prstGeom prst="rect">
            <a:avLst/>
          </a:prstGeom>
          <a:effectLst>
            <a:glow>
              <a:schemeClr val="accent1">
                <a:alpha val="24000"/>
              </a:schemeClr>
            </a:glow>
            <a:reflection blurRad="1270000" stA="45000"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2) Debris Tracking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 debris datasets combined together: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 - Chinese ASAT </a:t>
            </a:r>
            <a:r>
              <a:rPr lang="en-US" dirty="0" err="1">
                <a:solidFill>
                  <a:schemeClr val="bg1"/>
                </a:solidFill>
              </a:rPr>
              <a:t>F</a:t>
            </a:r>
            <a:r>
              <a:rPr lang="en-US" dirty="0" err="1" smtClean="0">
                <a:solidFill>
                  <a:schemeClr val="bg1"/>
                </a:solidFill>
              </a:rPr>
              <a:t>engyun</a:t>
            </a:r>
            <a:r>
              <a:rPr lang="en-US" dirty="0" smtClean="0">
                <a:solidFill>
                  <a:schemeClr val="bg1"/>
                </a:solidFill>
              </a:rPr>
              <a:t> 1C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- Cosmos 2251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- Iridium 33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TLE data converted into orbital trajectories using SGP4 model.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 - x, y, z coordinates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- time based orbital positions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4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5000">
              <a:srgbClr val="5B6976"/>
            </a:gs>
            <a:gs pos="0">
              <a:schemeClr val="tx1"/>
            </a:gs>
            <a:gs pos="51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3) Collision Risk Prediction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Now we calculate the distance between our main satellite (PRSS-1) and debris.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Euclidean distance formula: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Compute distances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Identify close approaches (within a certain threshold)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Generate collision alerts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787" y="3383256"/>
            <a:ext cx="6712273" cy="85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2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740" y="384546"/>
            <a:ext cx="8306520" cy="60889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5682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3D SSA Simulation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Earth-centered visualization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Satellite orbit visualization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Debris trajectory visualization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Collision threat highlighting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Interactive simulation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34797" y="5448046"/>
            <a:ext cx="2695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This is a screenshot from our simulation   </a:t>
            </a:r>
            <a:r>
              <a:rPr lang="en-US" sz="1600" dirty="0" smtClean="0">
                <a:solidFill>
                  <a:schemeClr val="bg1"/>
                </a:solidFill>
                <a:sym typeface="Wingdings" panose="05000000000000000000" pitchFamily="2" charset="2"/>
              </a:rPr>
              <a:t>: )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5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219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Limitations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real time satellite telemetry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Limited debris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commercially deployable yet.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We did our best.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428" y="3740505"/>
            <a:ext cx="3523793" cy="35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0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32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Future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Real-time satellite tracking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Larger debris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Enhanced AI detection 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Integration with national SSA initiatives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60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79463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 Takeaway?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78213"/>
            <a:ext cx="9144000" cy="31797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Most satellites use sensors to detect debris.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Sensors can only detect ‘already known debris’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Cameras, on the other hand, can detect ‘new type of debris’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Space is dark -&gt; the image quality is usually not so good.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 we train AI models to work alongside sensors.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Its not replacement. Its enhancement.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4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105" y="2834860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Thank you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74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589</Words>
  <Application>Microsoft Office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AI-Based Space Debris Detection</vt:lpstr>
      <vt:lpstr>LEO Satellites</vt:lpstr>
      <vt:lpstr>PowerPoint Presentation</vt:lpstr>
      <vt:lpstr>The Space Debris Crisis</vt:lpstr>
      <vt:lpstr>The Kessler Syndrome</vt:lpstr>
      <vt:lpstr>The solution? Collision Avoidance</vt:lpstr>
      <vt:lpstr>Our Project</vt:lpstr>
      <vt:lpstr>Objectives</vt:lpstr>
      <vt:lpstr>Data Sources</vt:lpstr>
      <vt:lpstr>1) Debris Detection </vt:lpstr>
      <vt:lpstr>PowerPoint Presentation</vt:lpstr>
      <vt:lpstr>PowerPoint Presentation</vt:lpstr>
      <vt:lpstr>2) Debris Tracking</vt:lpstr>
      <vt:lpstr>3) Collision Risk Prediction</vt:lpstr>
      <vt:lpstr>3D SSA Simulation</vt:lpstr>
      <vt:lpstr>Limitations</vt:lpstr>
      <vt:lpstr>Future work</vt:lpstr>
      <vt:lpstr>Key Takeaway?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Space Debris Detection</dc:title>
  <dc:creator>Microsoft account</dc:creator>
  <cp:lastModifiedBy>Microsoft account</cp:lastModifiedBy>
  <cp:revision>26</cp:revision>
  <dcterms:created xsi:type="dcterms:W3CDTF">2026-06-02T11:42:03Z</dcterms:created>
  <dcterms:modified xsi:type="dcterms:W3CDTF">2026-06-03T07:33:47Z</dcterms:modified>
</cp:coreProperties>
</file>